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Raleway" panose="020B0604020202020204" charset="0"/>
      <p:regular r:id="rId22"/>
    </p:embeddedFont>
    <p:embeddedFont>
      <p:font typeface="Fredoka" panose="020B0604020202020204" charset="0"/>
      <p:regular r:id="rId23"/>
    </p:embeddedFont>
    <p:embeddedFont>
      <p:font typeface="Raleway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25" autoAdjust="0"/>
    <p:restoredTop sz="94622" autoAdjust="0"/>
  </p:normalViewPr>
  <p:slideViewPr>
    <p:cSldViewPr>
      <p:cViewPr varScale="1">
        <p:scale>
          <a:sx n="43" d="100"/>
          <a:sy n="43" d="100"/>
        </p:scale>
        <p:origin x="740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95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09807" y="-309859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49053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68668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1028700"/>
            <a:ext cx="16230600" cy="8229600"/>
            <a:chOff x="0" y="0"/>
            <a:chExt cx="5274950" cy="26746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74950" cy="2674622"/>
            </a:xfrm>
            <a:custGeom>
              <a:avLst/>
              <a:gdLst/>
              <a:ahLst/>
              <a:cxnLst/>
              <a:rect l="l" t="t" r="r" b="b"/>
              <a:pathLst>
                <a:path w="5274950" h="2674622">
                  <a:moveTo>
                    <a:pt x="23850" y="0"/>
                  </a:moveTo>
                  <a:lnTo>
                    <a:pt x="5251100" y="0"/>
                  </a:lnTo>
                  <a:cubicBezTo>
                    <a:pt x="5264272" y="0"/>
                    <a:pt x="5274950" y="10678"/>
                    <a:pt x="5274950" y="23850"/>
                  </a:cubicBezTo>
                  <a:lnTo>
                    <a:pt x="5274950" y="2650773"/>
                  </a:lnTo>
                  <a:cubicBezTo>
                    <a:pt x="5274950" y="2657098"/>
                    <a:pt x="5272437" y="2663164"/>
                    <a:pt x="5267964" y="2667637"/>
                  </a:cubicBezTo>
                  <a:cubicBezTo>
                    <a:pt x="5263492" y="2672110"/>
                    <a:pt x="5257425" y="2674622"/>
                    <a:pt x="5251100" y="2674622"/>
                  </a:cubicBezTo>
                  <a:lnTo>
                    <a:pt x="23850" y="2674622"/>
                  </a:lnTo>
                  <a:cubicBezTo>
                    <a:pt x="17524" y="2674622"/>
                    <a:pt x="11458" y="2672110"/>
                    <a:pt x="6985" y="2667637"/>
                  </a:cubicBezTo>
                  <a:cubicBezTo>
                    <a:pt x="2513" y="2663164"/>
                    <a:pt x="0" y="2657098"/>
                    <a:pt x="0" y="265077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274950" cy="27222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82336" y="4497921"/>
            <a:ext cx="4362220" cy="6254078"/>
          </a:xfrm>
          <a:custGeom>
            <a:avLst/>
            <a:gdLst/>
            <a:ahLst/>
            <a:cxnLst/>
            <a:rect l="l" t="t" r="r" b="b"/>
            <a:pathLst>
              <a:path w="4362220" h="6254078">
                <a:moveTo>
                  <a:pt x="0" y="0"/>
                </a:moveTo>
                <a:lnTo>
                  <a:pt x="4362220" y="0"/>
                </a:lnTo>
                <a:lnTo>
                  <a:pt x="4362220" y="6254078"/>
                </a:lnTo>
                <a:lnTo>
                  <a:pt x="0" y="6254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401082" y="5352781"/>
            <a:ext cx="8318964" cy="87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IEEE AI Course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63446" y="1164734"/>
            <a:ext cx="13994236" cy="3978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40"/>
              </a:lnSpc>
            </a:pPr>
            <a:r>
              <a:rPr lang="en-US" sz="76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CUSTOMER CHURN PREDICTION IN GYM MEMBERSHIPS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57400" y="6310509"/>
            <a:ext cx="16230600" cy="2801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Presented by:</a:t>
            </a:r>
          </a:p>
          <a:p>
            <a:pPr algn="ctr">
              <a:lnSpc>
                <a:spcPts val="3499"/>
              </a:lnSpc>
            </a:pPr>
            <a:r>
              <a:rPr lang="en-US" sz="2499" b="1" dirty="0" err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Eman</a:t>
            </a:r>
            <a:r>
              <a:rPr lang="en-US" sz="2499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2499" b="1" dirty="0" err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Elbadry</a:t>
            </a:r>
            <a:r>
              <a:rPr lang="en-US" sz="2499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</a:p>
          <a:p>
            <a:pPr algn="ctr">
              <a:lnSpc>
                <a:spcPts val="3499"/>
              </a:lnSpc>
            </a:pPr>
            <a:r>
              <a:rPr lang="en-US" sz="2499" b="1" dirty="0" err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Zamzam</a:t>
            </a:r>
            <a:r>
              <a:rPr lang="en-US" sz="2499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Mohamed</a:t>
            </a:r>
          </a:p>
          <a:p>
            <a:pPr algn="ctr">
              <a:lnSpc>
                <a:spcPts val="3499"/>
              </a:lnSpc>
            </a:pPr>
            <a:r>
              <a:rPr lang="en-US" sz="2499" b="1" dirty="0" err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Joice</a:t>
            </a:r>
            <a:r>
              <a:rPr lang="en-US" sz="2499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Mena</a:t>
            </a:r>
          </a:p>
          <a:p>
            <a:pPr algn="ctr">
              <a:lnSpc>
                <a:spcPts val="3499"/>
              </a:lnSpc>
            </a:pPr>
            <a:r>
              <a:rPr lang="en-US" sz="2499" b="1" dirty="0" err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Malak</a:t>
            </a:r>
            <a:r>
              <a:rPr lang="en-US" sz="2499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2499" b="1" dirty="0" err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Elhusany</a:t>
            </a:r>
            <a:endParaRPr lang="en-US" sz="2499" b="1" dirty="0">
              <a:solidFill>
                <a:srgbClr val="000000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 err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Noura</a:t>
            </a:r>
            <a:r>
              <a:rPr lang="en-US" sz="2499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Ashraf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95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09807" y="-309859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49053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68668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30805" y="1028571"/>
            <a:ext cx="12049493" cy="8229600"/>
            <a:chOff x="0" y="0"/>
            <a:chExt cx="3916088" cy="26746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16088" cy="2674622"/>
            </a:xfrm>
            <a:custGeom>
              <a:avLst/>
              <a:gdLst/>
              <a:ahLst/>
              <a:cxnLst/>
              <a:rect l="l" t="t" r="r" b="b"/>
              <a:pathLst>
                <a:path w="3916088" h="2674622">
                  <a:moveTo>
                    <a:pt x="32126" y="0"/>
                  </a:moveTo>
                  <a:lnTo>
                    <a:pt x="3883963" y="0"/>
                  </a:lnTo>
                  <a:cubicBezTo>
                    <a:pt x="3901705" y="0"/>
                    <a:pt x="3916088" y="14383"/>
                    <a:pt x="3916088" y="32126"/>
                  </a:cubicBezTo>
                  <a:lnTo>
                    <a:pt x="3916088" y="2642497"/>
                  </a:lnTo>
                  <a:cubicBezTo>
                    <a:pt x="3916088" y="2651017"/>
                    <a:pt x="3912704" y="2659188"/>
                    <a:pt x="3906679" y="2665213"/>
                  </a:cubicBezTo>
                  <a:cubicBezTo>
                    <a:pt x="3900655" y="2671238"/>
                    <a:pt x="3892483" y="2674622"/>
                    <a:pt x="3883963" y="2674622"/>
                  </a:cubicBezTo>
                  <a:lnTo>
                    <a:pt x="32126" y="2674622"/>
                  </a:lnTo>
                  <a:cubicBezTo>
                    <a:pt x="14383" y="2674622"/>
                    <a:pt x="0" y="2660239"/>
                    <a:pt x="0" y="2642497"/>
                  </a:cubicBezTo>
                  <a:lnTo>
                    <a:pt x="0" y="32126"/>
                  </a:lnTo>
                  <a:cubicBezTo>
                    <a:pt x="0" y="23605"/>
                    <a:pt x="3385" y="15434"/>
                    <a:pt x="9409" y="9409"/>
                  </a:cubicBezTo>
                  <a:cubicBezTo>
                    <a:pt x="15434" y="3385"/>
                    <a:pt x="23605" y="0"/>
                    <a:pt x="3212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916088" cy="27222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1665781" y="4645123"/>
            <a:ext cx="7341660" cy="5432828"/>
          </a:xfrm>
          <a:custGeom>
            <a:avLst/>
            <a:gdLst/>
            <a:ahLst/>
            <a:cxnLst/>
            <a:rect l="l" t="t" r="r" b="b"/>
            <a:pathLst>
              <a:path w="7341660" h="5432828">
                <a:moveTo>
                  <a:pt x="0" y="0"/>
                </a:moveTo>
                <a:lnTo>
                  <a:pt x="7341660" y="0"/>
                </a:lnTo>
                <a:lnTo>
                  <a:pt x="7341660" y="5432828"/>
                </a:lnTo>
                <a:lnTo>
                  <a:pt x="0" y="5432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96499" y="3872736"/>
            <a:ext cx="9872521" cy="446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Customer churn is a major issue in subscription-based businesses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Gyms lose revenue when members cancel memberships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Data analysis can help understand and reduce churn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81982" y="1841921"/>
            <a:ext cx="10487039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95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09807" y="-309859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49053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68668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1028700"/>
            <a:ext cx="15294034" cy="8229600"/>
            <a:chOff x="0" y="0"/>
            <a:chExt cx="4970565" cy="26746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70565" cy="2674622"/>
            </a:xfrm>
            <a:custGeom>
              <a:avLst/>
              <a:gdLst/>
              <a:ahLst/>
              <a:cxnLst/>
              <a:rect l="l" t="t" r="r" b="b"/>
              <a:pathLst>
                <a:path w="4970565" h="2674622">
                  <a:moveTo>
                    <a:pt x="25310" y="0"/>
                  </a:moveTo>
                  <a:lnTo>
                    <a:pt x="4945255" y="0"/>
                  </a:lnTo>
                  <a:cubicBezTo>
                    <a:pt x="4951968" y="0"/>
                    <a:pt x="4958405" y="2667"/>
                    <a:pt x="4963152" y="7413"/>
                  </a:cubicBezTo>
                  <a:cubicBezTo>
                    <a:pt x="4967899" y="12160"/>
                    <a:pt x="4970565" y="18598"/>
                    <a:pt x="4970565" y="25310"/>
                  </a:cubicBezTo>
                  <a:lnTo>
                    <a:pt x="4970565" y="2649312"/>
                  </a:lnTo>
                  <a:cubicBezTo>
                    <a:pt x="4970565" y="2663291"/>
                    <a:pt x="4959233" y="2674622"/>
                    <a:pt x="4945255" y="2674622"/>
                  </a:cubicBezTo>
                  <a:lnTo>
                    <a:pt x="25310" y="2674622"/>
                  </a:lnTo>
                  <a:cubicBezTo>
                    <a:pt x="11332" y="2674622"/>
                    <a:pt x="0" y="2663291"/>
                    <a:pt x="0" y="2649312"/>
                  </a:cubicBezTo>
                  <a:lnTo>
                    <a:pt x="0" y="25310"/>
                  </a:lnTo>
                  <a:cubicBezTo>
                    <a:pt x="0" y="11332"/>
                    <a:pt x="11332" y="0"/>
                    <a:pt x="2531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970565" cy="27222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463422" y="3747176"/>
            <a:ext cx="11284933" cy="4360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5186" lvl="1" indent="-442593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High customer churn in gym memberships</a:t>
            </a:r>
          </a:p>
          <a:p>
            <a:pPr marL="885186" lvl="1" indent="-442593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Difficult to identify who will leave</a:t>
            </a:r>
          </a:p>
          <a:p>
            <a:pPr algn="l">
              <a:lnSpc>
                <a:spcPts val="5739"/>
              </a:lnSpc>
            </a:pPr>
            <a:r>
              <a:rPr lang="en-US" sz="40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  </a:t>
            </a:r>
            <a:r>
              <a:rPr lang="en-US" sz="4099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4099" b="1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Goal:</a:t>
            </a:r>
          </a:p>
          <a:p>
            <a:pPr marL="885186" lvl="1" indent="-442593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Identify key churn factors</a:t>
            </a:r>
          </a:p>
          <a:p>
            <a:pPr marL="885186" lvl="1" indent="-442593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Predict future churn</a:t>
            </a:r>
          </a:p>
          <a:p>
            <a:pPr algn="l">
              <a:lnSpc>
                <a:spcPts val="6019"/>
              </a:lnSpc>
            </a:pPr>
            <a:endParaRPr lang="en-US" sz="4099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93260" y="1696929"/>
            <a:ext cx="13666036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PROBLEM DEFINITION</a:t>
            </a:r>
          </a:p>
        </p:txBody>
      </p:sp>
      <p:sp>
        <p:nvSpPr>
          <p:cNvPr id="10" name="Freeform 10"/>
          <p:cNvSpPr/>
          <p:nvPr/>
        </p:nvSpPr>
        <p:spPr>
          <a:xfrm flipH="1">
            <a:off x="12838022" y="4244880"/>
            <a:ext cx="4421278" cy="5855998"/>
          </a:xfrm>
          <a:custGeom>
            <a:avLst/>
            <a:gdLst/>
            <a:ahLst/>
            <a:cxnLst/>
            <a:rect l="l" t="t" r="r" b="b"/>
            <a:pathLst>
              <a:path w="4421278" h="5855998">
                <a:moveTo>
                  <a:pt x="4421278" y="0"/>
                </a:moveTo>
                <a:lnTo>
                  <a:pt x="0" y="0"/>
                </a:lnTo>
                <a:lnTo>
                  <a:pt x="0" y="5855998"/>
                </a:lnTo>
                <a:lnTo>
                  <a:pt x="4421278" y="5855998"/>
                </a:lnTo>
                <a:lnTo>
                  <a:pt x="44212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95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09807" y="-309859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49053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68668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1028700"/>
            <a:ext cx="15294034" cy="8229600"/>
            <a:chOff x="0" y="0"/>
            <a:chExt cx="4970565" cy="26746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70565" cy="2674622"/>
            </a:xfrm>
            <a:custGeom>
              <a:avLst/>
              <a:gdLst/>
              <a:ahLst/>
              <a:cxnLst/>
              <a:rect l="l" t="t" r="r" b="b"/>
              <a:pathLst>
                <a:path w="4970565" h="2674622">
                  <a:moveTo>
                    <a:pt x="25310" y="0"/>
                  </a:moveTo>
                  <a:lnTo>
                    <a:pt x="4945255" y="0"/>
                  </a:lnTo>
                  <a:cubicBezTo>
                    <a:pt x="4951968" y="0"/>
                    <a:pt x="4958405" y="2667"/>
                    <a:pt x="4963152" y="7413"/>
                  </a:cubicBezTo>
                  <a:cubicBezTo>
                    <a:pt x="4967899" y="12160"/>
                    <a:pt x="4970565" y="18598"/>
                    <a:pt x="4970565" y="25310"/>
                  </a:cubicBezTo>
                  <a:lnTo>
                    <a:pt x="4970565" y="2649312"/>
                  </a:lnTo>
                  <a:cubicBezTo>
                    <a:pt x="4970565" y="2663291"/>
                    <a:pt x="4959233" y="2674622"/>
                    <a:pt x="4945255" y="2674622"/>
                  </a:cubicBezTo>
                  <a:lnTo>
                    <a:pt x="25310" y="2674622"/>
                  </a:lnTo>
                  <a:cubicBezTo>
                    <a:pt x="11332" y="2674622"/>
                    <a:pt x="0" y="2663291"/>
                    <a:pt x="0" y="2649312"/>
                  </a:cubicBezTo>
                  <a:lnTo>
                    <a:pt x="0" y="25310"/>
                  </a:lnTo>
                  <a:cubicBezTo>
                    <a:pt x="0" y="11332"/>
                    <a:pt x="11332" y="0"/>
                    <a:pt x="2531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970565" cy="27222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93260" y="3299643"/>
            <a:ext cx="11284933" cy="3601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5186" lvl="1" indent="-442593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Analyze customer behavior</a:t>
            </a:r>
          </a:p>
          <a:p>
            <a:pPr marL="885186" lvl="1" indent="-442593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Identify churn patterns</a:t>
            </a:r>
          </a:p>
          <a:p>
            <a:pPr marL="885186" lvl="1" indent="-442593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Build prediction model</a:t>
            </a:r>
          </a:p>
          <a:p>
            <a:pPr marL="885186" lvl="1" indent="-442593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Provide business recommendations</a:t>
            </a:r>
          </a:p>
          <a:p>
            <a:pPr algn="l">
              <a:lnSpc>
                <a:spcPts val="5739"/>
              </a:lnSpc>
            </a:pPr>
            <a:endParaRPr lang="en-US" sz="4099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93260" y="1696929"/>
            <a:ext cx="13666036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OBJECTIVES</a:t>
            </a:r>
          </a:p>
        </p:txBody>
      </p:sp>
      <p:sp>
        <p:nvSpPr>
          <p:cNvPr id="10" name="Freeform 10"/>
          <p:cNvSpPr/>
          <p:nvPr/>
        </p:nvSpPr>
        <p:spPr>
          <a:xfrm flipH="1">
            <a:off x="12838022" y="4244880"/>
            <a:ext cx="4421278" cy="5855998"/>
          </a:xfrm>
          <a:custGeom>
            <a:avLst/>
            <a:gdLst/>
            <a:ahLst/>
            <a:cxnLst/>
            <a:rect l="l" t="t" r="r" b="b"/>
            <a:pathLst>
              <a:path w="4421278" h="5855998">
                <a:moveTo>
                  <a:pt x="4421278" y="0"/>
                </a:moveTo>
                <a:lnTo>
                  <a:pt x="0" y="0"/>
                </a:lnTo>
                <a:lnTo>
                  <a:pt x="0" y="5855998"/>
                </a:lnTo>
                <a:lnTo>
                  <a:pt x="4421278" y="5855998"/>
                </a:lnTo>
                <a:lnTo>
                  <a:pt x="44212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95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09807" y="-309859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49053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68668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602897"/>
            <a:ext cx="18288000" cy="9249783"/>
            <a:chOff x="0" y="0"/>
            <a:chExt cx="5943605" cy="300618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43605" cy="3006182"/>
            </a:xfrm>
            <a:custGeom>
              <a:avLst/>
              <a:gdLst/>
              <a:ahLst/>
              <a:cxnLst/>
              <a:rect l="l" t="t" r="r" b="b"/>
              <a:pathLst>
                <a:path w="5943605" h="3006182">
                  <a:moveTo>
                    <a:pt x="21167" y="0"/>
                  </a:moveTo>
                  <a:lnTo>
                    <a:pt x="5922439" y="0"/>
                  </a:lnTo>
                  <a:cubicBezTo>
                    <a:pt x="5934128" y="0"/>
                    <a:pt x="5943605" y="9477"/>
                    <a:pt x="5943605" y="21167"/>
                  </a:cubicBezTo>
                  <a:lnTo>
                    <a:pt x="5943605" y="2985015"/>
                  </a:lnTo>
                  <a:cubicBezTo>
                    <a:pt x="5943605" y="2996705"/>
                    <a:pt x="5934128" y="3006182"/>
                    <a:pt x="5922439" y="3006182"/>
                  </a:cubicBezTo>
                  <a:lnTo>
                    <a:pt x="21167" y="3006182"/>
                  </a:lnTo>
                  <a:cubicBezTo>
                    <a:pt x="9477" y="3006182"/>
                    <a:pt x="0" y="2996705"/>
                    <a:pt x="0" y="2985015"/>
                  </a:cubicBezTo>
                  <a:lnTo>
                    <a:pt x="0" y="21167"/>
                  </a:lnTo>
                  <a:cubicBezTo>
                    <a:pt x="0" y="9477"/>
                    <a:pt x="9477" y="0"/>
                    <a:pt x="2116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943605" cy="30538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cc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5575942"/>
            <a:ext cx="18288000" cy="3250474"/>
          </a:xfrm>
          <a:custGeom>
            <a:avLst/>
            <a:gdLst/>
            <a:ahLst/>
            <a:cxnLst/>
            <a:rect l="l" t="t" r="r" b="b"/>
            <a:pathLst>
              <a:path w="18288000" h="3250474">
                <a:moveTo>
                  <a:pt x="0" y="0"/>
                </a:moveTo>
                <a:lnTo>
                  <a:pt x="18288000" y="0"/>
                </a:lnTo>
                <a:lnTo>
                  <a:pt x="18288000" y="3250474"/>
                </a:lnTo>
                <a:lnTo>
                  <a:pt x="0" y="32504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64" t="-2595" r="-1098" b="-4239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862653" y="895350"/>
            <a:ext cx="10784519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DATASET DESCRIPTION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0" y="2892428"/>
            <a:ext cx="17746054" cy="18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Number of rows: 5</a:t>
            </a:r>
          </a:p>
          <a:p>
            <a:pPr algn="ctr">
              <a:lnSpc>
                <a:spcPts val="5879"/>
              </a:lnSpc>
            </a:pPr>
            <a:r>
              <a:rPr lang="en-US" sz="41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Number of columns: 15</a:t>
            </a:r>
          </a:p>
          <a:p>
            <a:pPr algn="l">
              <a:lnSpc>
                <a:spcPts val="2659"/>
              </a:lnSpc>
            </a:pPr>
            <a:endParaRPr lang="en-US" sz="4199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95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09807" y="-309859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49053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68668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1028571"/>
            <a:ext cx="16230600" cy="8229600"/>
            <a:chOff x="0" y="0"/>
            <a:chExt cx="5274950" cy="26746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74950" cy="2674622"/>
            </a:xfrm>
            <a:custGeom>
              <a:avLst/>
              <a:gdLst/>
              <a:ahLst/>
              <a:cxnLst/>
              <a:rect l="l" t="t" r="r" b="b"/>
              <a:pathLst>
                <a:path w="5274950" h="2674622">
                  <a:moveTo>
                    <a:pt x="23850" y="0"/>
                  </a:moveTo>
                  <a:lnTo>
                    <a:pt x="5251100" y="0"/>
                  </a:lnTo>
                  <a:cubicBezTo>
                    <a:pt x="5264272" y="0"/>
                    <a:pt x="5274950" y="10678"/>
                    <a:pt x="5274950" y="23850"/>
                  </a:cubicBezTo>
                  <a:lnTo>
                    <a:pt x="5274950" y="2650773"/>
                  </a:lnTo>
                  <a:cubicBezTo>
                    <a:pt x="5274950" y="2657098"/>
                    <a:pt x="5272437" y="2663164"/>
                    <a:pt x="5267964" y="2667637"/>
                  </a:cubicBezTo>
                  <a:cubicBezTo>
                    <a:pt x="5263492" y="2672110"/>
                    <a:pt x="5257425" y="2674622"/>
                    <a:pt x="5251100" y="2674622"/>
                  </a:cubicBezTo>
                  <a:lnTo>
                    <a:pt x="23850" y="2674622"/>
                  </a:lnTo>
                  <a:cubicBezTo>
                    <a:pt x="17524" y="2674622"/>
                    <a:pt x="11458" y="2672110"/>
                    <a:pt x="6985" y="2667637"/>
                  </a:cubicBezTo>
                  <a:cubicBezTo>
                    <a:pt x="2513" y="2663164"/>
                    <a:pt x="0" y="2657098"/>
                    <a:pt x="0" y="265077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274950" cy="27222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194626" y="1805312"/>
            <a:ext cx="13898748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DATA CLEANING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94626" y="3299643"/>
            <a:ext cx="13898748" cy="424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5186" lvl="1" indent="-442593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Removed irrelevant columns:</a:t>
            </a:r>
          </a:p>
          <a:p>
            <a:pPr marL="885186" lvl="1" indent="-442593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Member_ID, Name, Phone_Number, Address</a:t>
            </a:r>
          </a:p>
          <a:p>
            <a:pPr marL="885186" lvl="1" indent="-442593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Filled missing values using mean</a:t>
            </a:r>
          </a:p>
          <a:p>
            <a:pPr marL="885186" lvl="1" indent="-442593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Dropped missing Join_Date</a:t>
            </a:r>
          </a:p>
          <a:p>
            <a:pPr marL="885186" lvl="1" indent="-442593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Removed duplicate rows</a:t>
            </a:r>
          </a:p>
          <a:p>
            <a:pPr algn="l">
              <a:lnSpc>
                <a:spcPts val="5039"/>
              </a:lnSpc>
            </a:pPr>
            <a:endParaRPr lang="en-US" sz="4099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" name="Freeform 10"/>
          <p:cNvSpPr/>
          <p:nvPr/>
        </p:nvSpPr>
        <p:spPr>
          <a:xfrm flipH="1">
            <a:off x="12990422" y="4397280"/>
            <a:ext cx="4421278" cy="5855998"/>
          </a:xfrm>
          <a:custGeom>
            <a:avLst/>
            <a:gdLst/>
            <a:ahLst/>
            <a:cxnLst/>
            <a:rect l="l" t="t" r="r" b="b"/>
            <a:pathLst>
              <a:path w="4421278" h="5855998">
                <a:moveTo>
                  <a:pt x="4421278" y="0"/>
                </a:moveTo>
                <a:lnTo>
                  <a:pt x="0" y="0"/>
                </a:lnTo>
                <a:lnTo>
                  <a:pt x="0" y="5855998"/>
                </a:lnTo>
                <a:lnTo>
                  <a:pt x="4421278" y="5855998"/>
                </a:lnTo>
                <a:lnTo>
                  <a:pt x="44212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95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09807" y="-309859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49053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68668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1028700"/>
            <a:ext cx="16230600" cy="8229600"/>
            <a:chOff x="0" y="0"/>
            <a:chExt cx="5274950" cy="26746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74950" cy="2674622"/>
            </a:xfrm>
            <a:custGeom>
              <a:avLst/>
              <a:gdLst/>
              <a:ahLst/>
              <a:cxnLst/>
              <a:rect l="l" t="t" r="r" b="b"/>
              <a:pathLst>
                <a:path w="5274950" h="2674622">
                  <a:moveTo>
                    <a:pt x="23850" y="0"/>
                  </a:moveTo>
                  <a:lnTo>
                    <a:pt x="5251100" y="0"/>
                  </a:lnTo>
                  <a:cubicBezTo>
                    <a:pt x="5264272" y="0"/>
                    <a:pt x="5274950" y="10678"/>
                    <a:pt x="5274950" y="23850"/>
                  </a:cubicBezTo>
                  <a:lnTo>
                    <a:pt x="5274950" y="2650773"/>
                  </a:lnTo>
                  <a:cubicBezTo>
                    <a:pt x="5274950" y="2657098"/>
                    <a:pt x="5272437" y="2663164"/>
                    <a:pt x="5267964" y="2667637"/>
                  </a:cubicBezTo>
                  <a:cubicBezTo>
                    <a:pt x="5263492" y="2672110"/>
                    <a:pt x="5257425" y="2674622"/>
                    <a:pt x="5251100" y="2674622"/>
                  </a:cubicBezTo>
                  <a:lnTo>
                    <a:pt x="23850" y="2674622"/>
                  </a:lnTo>
                  <a:cubicBezTo>
                    <a:pt x="17524" y="2674622"/>
                    <a:pt x="11458" y="2672110"/>
                    <a:pt x="6985" y="2667637"/>
                  </a:cubicBezTo>
                  <a:cubicBezTo>
                    <a:pt x="2513" y="2663164"/>
                    <a:pt x="0" y="2657098"/>
                    <a:pt x="0" y="265077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274950" cy="27222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194626" y="1805312"/>
            <a:ext cx="13898748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DATA PREPROCESSING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49630" y="3648206"/>
            <a:ext cx="15188741" cy="446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Converted Gender: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Male = 0, Female = 1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Encoded categorical variables using One-Hot Encoding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Converted Churn: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Yes = 1, No = 0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Standardized numerical features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" name="Freeform 10"/>
          <p:cNvSpPr/>
          <p:nvPr/>
        </p:nvSpPr>
        <p:spPr>
          <a:xfrm flipH="1">
            <a:off x="13142822" y="4549680"/>
            <a:ext cx="4421278" cy="5855998"/>
          </a:xfrm>
          <a:custGeom>
            <a:avLst/>
            <a:gdLst/>
            <a:ahLst/>
            <a:cxnLst/>
            <a:rect l="l" t="t" r="r" b="b"/>
            <a:pathLst>
              <a:path w="4421278" h="5855998">
                <a:moveTo>
                  <a:pt x="4421278" y="0"/>
                </a:moveTo>
                <a:lnTo>
                  <a:pt x="0" y="0"/>
                </a:lnTo>
                <a:lnTo>
                  <a:pt x="0" y="5855998"/>
                </a:lnTo>
                <a:lnTo>
                  <a:pt x="4421278" y="5855998"/>
                </a:lnTo>
                <a:lnTo>
                  <a:pt x="44212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95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09807" y="-309859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49053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68668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1028700"/>
            <a:ext cx="13963762" cy="8229600"/>
            <a:chOff x="0" y="0"/>
            <a:chExt cx="4538227" cy="26746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38226" cy="2674622"/>
            </a:xfrm>
            <a:custGeom>
              <a:avLst/>
              <a:gdLst/>
              <a:ahLst/>
              <a:cxnLst/>
              <a:rect l="l" t="t" r="r" b="b"/>
              <a:pathLst>
                <a:path w="4538226" h="2674622">
                  <a:moveTo>
                    <a:pt x="27721" y="0"/>
                  </a:moveTo>
                  <a:lnTo>
                    <a:pt x="4510505" y="0"/>
                  </a:lnTo>
                  <a:cubicBezTo>
                    <a:pt x="4525815" y="0"/>
                    <a:pt x="4538226" y="12411"/>
                    <a:pt x="4538226" y="27721"/>
                  </a:cubicBezTo>
                  <a:lnTo>
                    <a:pt x="4538226" y="2646901"/>
                  </a:lnTo>
                  <a:cubicBezTo>
                    <a:pt x="4538226" y="2662211"/>
                    <a:pt x="4525815" y="2674622"/>
                    <a:pt x="4510505" y="2674622"/>
                  </a:cubicBezTo>
                  <a:lnTo>
                    <a:pt x="27721" y="2674622"/>
                  </a:lnTo>
                  <a:cubicBezTo>
                    <a:pt x="12411" y="2674622"/>
                    <a:pt x="0" y="2662211"/>
                    <a:pt x="0" y="2646901"/>
                  </a:cubicBezTo>
                  <a:lnTo>
                    <a:pt x="0" y="27721"/>
                  </a:lnTo>
                  <a:cubicBezTo>
                    <a:pt x="0" y="12411"/>
                    <a:pt x="12411" y="0"/>
                    <a:pt x="277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538227" cy="27222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85140" y="3966943"/>
            <a:ext cx="13707322" cy="446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Created new feature:</a:t>
            </a:r>
          </a:p>
          <a:p>
            <a:pPr marL="1554477" lvl="2" indent="-518159" algn="l">
              <a:lnSpc>
                <a:spcPts val="5039"/>
              </a:lnSpc>
              <a:buFont typeface="Arial"/>
              <a:buChar char="⚬"/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Membership_Duration (in days)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Captures customer lifecycle behavior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Helps distinguish new vs long-term members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Insight: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Shorter duration often correlates with higher churn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823893" y="1946536"/>
            <a:ext cx="13168569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FEATURE ENGINEERING</a:t>
            </a:r>
          </a:p>
        </p:txBody>
      </p:sp>
      <p:sp>
        <p:nvSpPr>
          <p:cNvPr id="10" name="Freeform 10"/>
          <p:cNvSpPr/>
          <p:nvPr/>
        </p:nvSpPr>
        <p:spPr>
          <a:xfrm>
            <a:off x="13068668" y="4052668"/>
            <a:ext cx="5694673" cy="7407705"/>
          </a:xfrm>
          <a:custGeom>
            <a:avLst/>
            <a:gdLst/>
            <a:ahLst/>
            <a:cxnLst/>
            <a:rect l="l" t="t" r="r" b="b"/>
            <a:pathLst>
              <a:path w="5694673" h="7407705">
                <a:moveTo>
                  <a:pt x="0" y="0"/>
                </a:moveTo>
                <a:lnTo>
                  <a:pt x="5694673" y="0"/>
                </a:lnTo>
                <a:lnTo>
                  <a:pt x="5694673" y="7407705"/>
                </a:lnTo>
                <a:lnTo>
                  <a:pt x="0" y="74077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95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09807" y="-309859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49053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68668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4249803" y="523345"/>
            <a:ext cx="9788393" cy="9495241"/>
            <a:chOff x="0" y="0"/>
            <a:chExt cx="3181230" cy="30859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81230" cy="3085956"/>
            </a:xfrm>
            <a:custGeom>
              <a:avLst/>
              <a:gdLst/>
              <a:ahLst/>
              <a:cxnLst/>
              <a:rect l="l" t="t" r="r" b="b"/>
              <a:pathLst>
                <a:path w="3181230" h="3085956">
                  <a:moveTo>
                    <a:pt x="39546" y="0"/>
                  </a:moveTo>
                  <a:lnTo>
                    <a:pt x="3141684" y="0"/>
                  </a:lnTo>
                  <a:cubicBezTo>
                    <a:pt x="3152172" y="0"/>
                    <a:pt x="3162231" y="4166"/>
                    <a:pt x="3169648" y="11583"/>
                  </a:cubicBezTo>
                  <a:cubicBezTo>
                    <a:pt x="3177064" y="18999"/>
                    <a:pt x="3181230" y="29058"/>
                    <a:pt x="3181230" y="39546"/>
                  </a:cubicBezTo>
                  <a:lnTo>
                    <a:pt x="3181230" y="3046410"/>
                  </a:lnTo>
                  <a:cubicBezTo>
                    <a:pt x="3181230" y="3068251"/>
                    <a:pt x="3163525" y="3085956"/>
                    <a:pt x="3141684" y="3085956"/>
                  </a:cubicBezTo>
                  <a:lnTo>
                    <a:pt x="39546" y="3085956"/>
                  </a:lnTo>
                  <a:cubicBezTo>
                    <a:pt x="17706" y="3085956"/>
                    <a:pt x="0" y="3068251"/>
                    <a:pt x="0" y="3046410"/>
                  </a:cubicBezTo>
                  <a:lnTo>
                    <a:pt x="0" y="39546"/>
                  </a:lnTo>
                  <a:cubicBezTo>
                    <a:pt x="0" y="17706"/>
                    <a:pt x="17706" y="0"/>
                    <a:pt x="3954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181230" cy="31335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760575" y="2995485"/>
            <a:ext cx="8804950" cy="702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Age is spread across a wide range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Presence of slight variability but no extreme outliers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No strong clustering in a specific age group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Interpretation: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Age alone is not a strong predictor of churn</a:t>
            </a:r>
          </a:p>
          <a:p>
            <a:pPr algn="just">
              <a:lnSpc>
                <a:spcPts val="5599"/>
              </a:lnSpc>
            </a:pPr>
            <a:endParaRPr lang="en-US" sz="3999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-639100" y="5143371"/>
            <a:ext cx="5357186" cy="7966076"/>
          </a:xfrm>
          <a:custGeom>
            <a:avLst/>
            <a:gdLst/>
            <a:ahLst/>
            <a:cxnLst/>
            <a:rect l="l" t="t" r="r" b="b"/>
            <a:pathLst>
              <a:path w="5357186" h="7966076">
                <a:moveTo>
                  <a:pt x="0" y="0"/>
                </a:moveTo>
                <a:lnTo>
                  <a:pt x="5357186" y="0"/>
                </a:lnTo>
                <a:lnTo>
                  <a:pt x="5357186" y="7966075"/>
                </a:lnTo>
                <a:lnTo>
                  <a:pt x="0" y="7966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718086" y="1027241"/>
            <a:ext cx="8804950" cy="124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20"/>
              </a:lnSpc>
            </a:pPr>
            <a:r>
              <a:rPr lang="en-US" sz="73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AGE DISTRIBUTION</a:t>
            </a:r>
          </a:p>
        </p:txBody>
      </p:sp>
      <p:sp>
        <p:nvSpPr>
          <p:cNvPr id="11" name="Freeform 11"/>
          <p:cNvSpPr/>
          <p:nvPr/>
        </p:nvSpPr>
        <p:spPr>
          <a:xfrm rot="-10800000">
            <a:off x="13565525" y="-2822446"/>
            <a:ext cx="5357186" cy="7966076"/>
          </a:xfrm>
          <a:custGeom>
            <a:avLst/>
            <a:gdLst/>
            <a:ahLst/>
            <a:cxnLst/>
            <a:rect l="l" t="t" r="r" b="b"/>
            <a:pathLst>
              <a:path w="5357186" h="7966076">
                <a:moveTo>
                  <a:pt x="0" y="0"/>
                </a:moveTo>
                <a:lnTo>
                  <a:pt x="5357186" y="0"/>
                </a:lnTo>
                <a:lnTo>
                  <a:pt x="5357186" y="7966075"/>
                </a:lnTo>
                <a:lnTo>
                  <a:pt x="0" y="7966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95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09807" y="-309859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49053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68668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1028700"/>
            <a:ext cx="12049493" cy="8229600"/>
            <a:chOff x="0" y="0"/>
            <a:chExt cx="3916088" cy="26746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16088" cy="2674622"/>
            </a:xfrm>
            <a:custGeom>
              <a:avLst/>
              <a:gdLst/>
              <a:ahLst/>
              <a:cxnLst/>
              <a:rect l="l" t="t" r="r" b="b"/>
              <a:pathLst>
                <a:path w="3916088" h="2674622">
                  <a:moveTo>
                    <a:pt x="32126" y="0"/>
                  </a:moveTo>
                  <a:lnTo>
                    <a:pt x="3883963" y="0"/>
                  </a:lnTo>
                  <a:cubicBezTo>
                    <a:pt x="3901705" y="0"/>
                    <a:pt x="3916088" y="14383"/>
                    <a:pt x="3916088" y="32126"/>
                  </a:cubicBezTo>
                  <a:lnTo>
                    <a:pt x="3916088" y="2642497"/>
                  </a:lnTo>
                  <a:cubicBezTo>
                    <a:pt x="3916088" y="2651017"/>
                    <a:pt x="3912704" y="2659188"/>
                    <a:pt x="3906679" y="2665213"/>
                  </a:cubicBezTo>
                  <a:cubicBezTo>
                    <a:pt x="3900655" y="2671238"/>
                    <a:pt x="3892483" y="2674622"/>
                    <a:pt x="3883963" y="2674622"/>
                  </a:cubicBezTo>
                  <a:lnTo>
                    <a:pt x="32126" y="2674622"/>
                  </a:lnTo>
                  <a:cubicBezTo>
                    <a:pt x="14383" y="2674622"/>
                    <a:pt x="0" y="2660239"/>
                    <a:pt x="0" y="2642497"/>
                  </a:cubicBezTo>
                  <a:lnTo>
                    <a:pt x="0" y="32126"/>
                  </a:lnTo>
                  <a:cubicBezTo>
                    <a:pt x="0" y="23605"/>
                    <a:pt x="3385" y="15434"/>
                    <a:pt x="9409" y="9409"/>
                  </a:cubicBezTo>
                  <a:cubicBezTo>
                    <a:pt x="15434" y="3385"/>
                    <a:pt x="23605" y="0"/>
                    <a:pt x="3212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916088" cy="27222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2308231" y="4052668"/>
            <a:ext cx="5694673" cy="7407705"/>
          </a:xfrm>
          <a:custGeom>
            <a:avLst/>
            <a:gdLst/>
            <a:ahLst/>
            <a:cxnLst/>
            <a:rect l="l" t="t" r="r" b="b"/>
            <a:pathLst>
              <a:path w="5694673" h="7407705">
                <a:moveTo>
                  <a:pt x="0" y="0"/>
                </a:moveTo>
                <a:lnTo>
                  <a:pt x="5694673" y="0"/>
                </a:lnTo>
                <a:lnTo>
                  <a:pt x="5694673" y="7407705"/>
                </a:lnTo>
                <a:lnTo>
                  <a:pt x="0" y="74077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93260" y="3976468"/>
            <a:ext cx="10095982" cy="489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Distribution between male and female members is relatively balanced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No major dominance of one gender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Interpretation: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Gender does not significantly influence churn behavior</a:t>
            </a:r>
          </a:p>
          <a:p>
            <a:pPr algn="l">
              <a:lnSpc>
                <a:spcPts val="5459"/>
              </a:lnSpc>
            </a:pPr>
            <a:endParaRPr lang="en-US" sz="3999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93260" y="1956061"/>
            <a:ext cx="10868810" cy="124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20"/>
              </a:lnSpc>
            </a:pPr>
            <a:r>
              <a:rPr lang="en-US" sz="73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GENDER DISTRIBUTION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95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09807" y="-309859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49053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68668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209807" y="1028700"/>
            <a:ext cx="12049493" cy="8229600"/>
            <a:chOff x="0" y="0"/>
            <a:chExt cx="3916088" cy="26746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16088" cy="2674622"/>
            </a:xfrm>
            <a:custGeom>
              <a:avLst/>
              <a:gdLst/>
              <a:ahLst/>
              <a:cxnLst/>
              <a:rect l="l" t="t" r="r" b="b"/>
              <a:pathLst>
                <a:path w="3916088" h="2674622">
                  <a:moveTo>
                    <a:pt x="32126" y="0"/>
                  </a:moveTo>
                  <a:lnTo>
                    <a:pt x="3883963" y="0"/>
                  </a:lnTo>
                  <a:cubicBezTo>
                    <a:pt x="3901705" y="0"/>
                    <a:pt x="3916088" y="14383"/>
                    <a:pt x="3916088" y="32126"/>
                  </a:cubicBezTo>
                  <a:lnTo>
                    <a:pt x="3916088" y="2642497"/>
                  </a:lnTo>
                  <a:cubicBezTo>
                    <a:pt x="3916088" y="2651017"/>
                    <a:pt x="3912704" y="2659188"/>
                    <a:pt x="3906679" y="2665213"/>
                  </a:cubicBezTo>
                  <a:cubicBezTo>
                    <a:pt x="3900655" y="2671238"/>
                    <a:pt x="3892483" y="2674622"/>
                    <a:pt x="3883963" y="2674622"/>
                  </a:cubicBezTo>
                  <a:lnTo>
                    <a:pt x="32126" y="2674622"/>
                  </a:lnTo>
                  <a:cubicBezTo>
                    <a:pt x="14383" y="2674622"/>
                    <a:pt x="0" y="2660239"/>
                    <a:pt x="0" y="2642497"/>
                  </a:cubicBezTo>
                  <a:lnTo>
                    <a:pt x="0" y="32126"/>
                  </a:lnTo>
                  <a:cubicBezTo>
                    <a:pt x="0" y="23605"/>
                    <a:pt x="3385" y="15434"/>
                    <a:pt x="9409" y="9409"/>
                  </a:cubicBezTo>
                  <a:cubicBezTo>
                    <a:pt x="15434" y="3385"/>
                    <a:pt x="23605" y="0"/>
                    <a:pt x="3212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916088" cy="27222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219332" y="4038288"/>
            <a:ext cx="11783528" cy="561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Majority of members burn between 350–620 calories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Wide spread indicates varying fitness levels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Presence of both low and high activity users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Interpretation: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Activity level may impact engagement and retention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" name="Freeform 9"/>
          <p:cNvSpPr/>
          <p:nvPr/>
        </p:nvSpPr>
        <p:spPr>
          <a:xfrm flipH="1">
            <a:off x="285968" y="4052668"/>
            <a:ext cx="5688399" cy="6968942"/>
          </a:xfrm>
          <a:custGeom>
            <a:avLst/>
            <a:gdLst/>
            <a:ahLst/>
            <a:cxnLst/>
            <a:rect l="l" t="t" r="r" b="b"/>
            <a:pathLst>
              <a:path w="5688399" h="6968942">
                <a:moveTo>
                  <a:pt x="5688399" y="0"/>
                </a:moveTo>
                <a:lnTo>
                  <a:pt x="0" y="0"/>
                </a:lnTo>
                <a:lnTo>
                  <a:pt x="0" y="6968942"/>
                </a:lnTo>
                <a:lnTo>
                  <a:pt x="5688399" y="6968942"/>
                </a:lnTo>
                <a:lnTo>
                  <a:pt x="568839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219332" y="1477108"/>
            <a:ext cx="12039968" cy="2299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sz="66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CALORIES BURNED ANALYSIS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95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09807" y="-309859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49053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68668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1028700"/>
            <a:ext cx="12496414" cy="8229600"/>
            <a:chOff x="0" y="0"/>
            <a:chExt cx="4061338" cy="26746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61338" cy="2674622"/>
            </a:xfrm>
            <a:custGeom>
              <a:avLst/>
              <a:gdLst/>
              <a:ahLst/>
              <a:cxnLst/>
              <a:rect l="l" t="t" r="r" b="b"/>
              <a:pathLst>
                <a:path w="4061338" h="2674622">
                  <a:moveTo>
                    <a:pt x="30977" y="0"/>
                  </a:moveTo>
                  <a:lnTo>
                    <a:pt x="4030362" y="0"/>
                  </a:lnTo>
                  <a:cubicBezTo>
                    <a:pt x="4047470" y="0"/>
                    <a:pt x="4061338" y="13869"/>
                    <a:pt x="4061338" y="30977"/>
                  </a:cubicBezTo>
                  <a:lnTo>
                    <a:pt x="4061338" y="2643646"/>
                  </a:lnTo>
                  <a:cubicBezTo>
                    <a:pt x="4061338" y="2651861"/>
                    <a:pt x="4058074" y="2659740"/>
                    <a:pt x="4052265" y="2665550"/>
                  </a:cubicBezTo>
                  <a:cubicBezTo>
                    <a:pt x="4046456" y="2671359"/>
                    <a:pt x="4038577" y="2674622"/>
                    <a:pt x="4030362" y="2674622"/>
                  </a:cubicBezTo>
                  <a:lnTo>
                    <a:pt x="30977" y="2674622"/>
                  </a:lnTo>
                  <a:cubicBezTo>
                    <a:pt x="22761" y="2674622"/>
                    <a:pt x="14882" y="2671359"/>
                    <a:pt x="9073" y="2665550"/>
                  </a:cubicBezTo>
                  <a:cubicBezTo>
                    <a:pt x="3264" y="2659740"/>
                    <a:pt x="0" y="2651861"/>
                    <a:pt x="0" y="2643646"/>
                  </a:cubicBezTo>
                  <a:lnTo>
                    <a:pt x="0" y="30977"/>
                  </a:lnTo>
                  <a:cubicBezTo>
                    <a:pt x="0" y="22761"/>
                    <a:pt x="3264" y="14882"/>
                    <a:pt x="9073" y="9073"/>
                  </a:cubicBezTo>
                  <a:cubicBezTo>
                    <a:pt x="14882" y="3264"/>
                    <a:pt x="22761" y="0"/>
                    <a:pt x="3097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061338" cy="27222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80381" y="3966943"/>
            <a:ext cx="11391439" cy="3823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Weak linear correlations between most features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No single variable strongly predicts another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Interpretation: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Churn is influenced by multiple combined factors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Requires machine learning to capture patterns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. </a:t>
            </a:r>
          </a:p>
        </p:txBody>
      </p:sp>
      <p:sp>
        <p:nvSpPr>
          <p:cNvPr id="9" name="Freeform 9"/>
          <p:cNvSpPr/>
          <p:nvPr/>
        </p:nvSpPr>
        <p:spPr>
          <a:xfrm>
            <a:off x="11153472" y="5143371"/>
            <a:ext cx="6966933" cy="7028432"/>
          </a:xfrm>
          <a:custGeom>
            <a:avLst/>
            <a:gdLst/>
            <a:ahLst/>
            <a:cxnLst/>
            <a:rect l="l" t="t" r="r" b="b"/>
            <a:pathLst>
              <a:path w="6966933" h="7028432">
                <a:moveTo>
                  <a:pt x="0" y="0"/>
                </a:moveTo>
                <a:lnTo>
                  <a:pt x="6966932" y="0"/>
                </a:lnTo>
                <a:lnTo>
                  <a:pt x="6966932" y="7028431"/>
                </a:lnTo>
                <a:lnTo>
                  <a:pt x="0" y="70284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80381" y="1956061"/>
            <a:ext cx="11793053" cy="1210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40"/>
              </a:lnSpc>
            </a:pPr>
            <a:r>
              <a:rPr lang="en-US" sz="71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CORRELATION HEATMAP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95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09807" y="-309859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49053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68668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3370647" y="1028700"/>
            <a:ext cx="11546706" cy="8229600"/>
            <a:chOff x="0" y="0"/>
            <a:chExt cx="3752683" cy="26746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52683" cy="2674622"/>
            </a:xfrm>
            <a:custGeom>
              <a:avLst/>
              <a:gdLst/>
              <a:ahLst/>
              <a:cxnLst/>
              <a:rect l="l" t="t" r="r" b="b"/>
              <a:pathLst>
                <a:path w="3752683" h="2674622">
                  <a:moveTo>
                    <a:pt x="33524" y="0"/>
                  </a:moveTo>
                  <a:lnTo>
                    <a:pt x="3719158" y="0"/>
                  </a:lnTo>
                  <a:cubicBezTo>
                    <a:pt x="3728050" y="0"/>
                    <a:pt x="3736577" y="3532"/>
                    <a:pt x="3742863" y="9819"/>
                  </a:cubicBezTo>
                  <a:cubicBezTo>
                    <a:pt x="3749151" y="16106"/>
                    <a:pt x="3752683" y="24633"/>
                    <a:pt x="3752683" y="33524"/>
                  </a:cubicBezTo>
                  <a:lnTo>
                    <a:pt x="3752683" y="2641098"/>
                  </a:lnTo>
                  <a:cubicBezTo>
                    <a:pt x="3752683" y="2659613"/>
                    <a:pt x="3737673" y="2674622"/>
                    <a:pt x="3719158" y="2674622"/>
                  </a:cubicBezTo>
                  <a:lnTo>
                    <a:pt x="33524" y="2674622"/>
                  </a:lnTo>
                  <a:cubicBezTo>
                    <a:pt x="15009" y="2674622"/>
                    <a:pt x="0" y="2659613"/>
                    <a:pt x="0" y="2641098"/>
                  </a:cubicBezTo>
                  <a:lnTo>
                    <a:pt x="0" y="33524"/>
                  </a:lnTo>
                  <a:cubicBezTo>
                    <a:pt x="0" y="24633"/>
                    <a:pt x="3532" y="16106"/>
                    <a:pt x="9819" y="9819"/>
                  </a:cubicBezTo>
                  <a:cubicBezTo>
                    <a:pt x="16106" y="3532"/>
                    <a:pt x="24633" y="0"/>
                    <a:pt x="3352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752683" cy="27222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967808" y="3918892"/>
            <a:ext cx="10949544" cy="446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Selected Logistic Regression for classification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Data split into training and testing sets (80/20)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Model trained on historical customer data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Reason:</a:t>
            </a:r>
          </a:p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Logistic Regression is simple, interpretable, and effective for binary classification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39258" y="1850470"/>
            <a:ext cx="10009483" cy="1266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99"/>
              </a:lnSpc>
            </a:pPr>
            <a:r>
              <a:rPr lang="en-US" sz="74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MODEL BUILDING</a:t>
            </a:r>
          </a:p>
        </p:txBody>
      </p:sp>
      <p:sp>
        <p:nvSpPr>
          <p:cNvPr id="10" name="Freeform 10"/>
          <p:cNvSpPr/>
          <p:nvPr/>
        </p:nvSpPr>
        <p:spPr>
          <a:xfrm rot="-10800000">
            <a:off x="191542" y="114300"/>
            <a:ext cx="3776266" cy="6005990"/>
          </a:xfrm>
          <a:custGeom>
            <a:avLst/>
            <a:gdLst/>
            <a:ahLst/>
            <a:cxnLst/>
            <a:rect l="l" t="t" r="r" b="b"/>
            <a:pathLst>
              <a:path w="3776266" h="6005990">
                <a:moveTo>
                  <a:pt x="0" y="0"/>
                </a:moveTo>
                <a:lnTo>
                  <a:pt x="3776266" y="0"/>
                </a:lnTo>
                <a:lnTo>
                  <a:pt x="3776266" y="6005990"/>
                </a:lnTo>
                <a:lnTo>
                  <a:pt x="0" y="60059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320192" y="4101057"/>
            <a:ext cx="3776266" cy="6005990"/>
          </a:xfrm>
          <a:custGeom>
            <a:avLst/>
            <a:gdLst/>
            <a:ahLst/>
            <a:cxnLst/>
            <a:rect l="l" t="t" r="r" b="b"/>
            <a:pathLst>
              <a:path w="3776266" h="6005990">
                <a:moveTo>
                  <a:pt x="0" y="0"/>
                </a:moveTo>
                <a:lnTo>
                  <a:pt x="3776266" y="0"/>
                </a:lnTo>
                <a:lnTo>
                  <a:pt x="3776266" y="6005991"/>
                </a:lnTo>
                <a:lnTo>
                  <a:pt x="0" y="60059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95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09807" y="-309859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49053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68668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965266" y="1028571"/>
            <a:ext cx="15294034" cy="8229600"/>
            <a:chOff x="0" y="0"/>
            <a:chExt cx="4970565" cy="26746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70565" cy="2674622"/>
            </a:xfrm>
            <a:custGeom>
              <a:avLst/>
              <a:gdLst/>
              <a:ahLst/>
              <a:cxnLst/>
              <a:rect l="l" t="t" r="r" b="b"/>
              <a:pathLst>
                <a:path w="4970565" h="2674622">
                  <a:moveTo>
                    <a:pt x="25310" y="0"/>
                  </a:moveTo>
                  <a:lnTo>
                    <a:pt x="4945255" y="0"/>
                  </a:lnTo>
                  <a:cubicBezTo>
                    <a:pt x="4951968" y="0"/>
                    <a:pt x="4958405" y="2667"/>
                    <a:pt x="4963152" y="7413"/>
                  </a:cubicBezTo>
                  <a:cubicBezTo>
                    <a:pt x="4967899" y="12160"/>
                    <a:pt x="4970565" y="18598"/>
                    <a:pt x="4970565" y="25310"/>
                  </a:cubicBezTo>
                  <a:lnTo>
                    <a:pt x="4970565" y="2649312"/>
                  </a:lnTo>
                  <a:cubicBezTo>
                    <a:pt x="4970565" y="2663291"/>
                    <a:pt x="4959233" y="2674622"/>
                    <a:pt x="4945255" y="2674622"/>
                  </a:cubicBezTo>
                  <a:lnTo>
                    <a:pt x="25310" y="2674622"/>
                  </a:lnTo>
                  <a:cubicBezTo>
                    <a:pt x="11332" y="2674622"/>
                    <a:pt x="0" y="2663291"/>
                    <a:pt x="0" y="2649312"/>
                  </a:cubicBezTo>
                  <a:lnTo>
                    <a:pt x="0" y="25310"/>
                  </a:lnTo>
                  <a:cubicBezTo>
                    <a:pt x="0" y="11332"/>
                    <a:pt x="11332" y="0"/>
                    <a:pt x="2531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970565" cy="27222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192317" y="3243340"/>
            <a:ext cx="12810544" cy="561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Customers with fewer monthly visits are more likely to churn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New members (short membership duration) have higher churn rates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Activity-based features are stronger predictors than demographics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Membership type influences retention patterns</a:t>
            </a:r>
          </a:p>
          <a:p>
            <a:pPr algn="r">
              <a:lnSpc>
                <a:spcPts val="5599"/>
              </a:lnSpc>
            </a:pPr>
            <a:endParaRPr lang="en-US" sz="3999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729826" y="1687275"/>
            <a:ext cx="13666036" cy="1266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99"/>
              </a:lnSpc>
            </a:pPr>
            <a:r>
              <a:rPr lang="en-US" sz="74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KEY FINDINGS</a:t>
            </a:r>
          </a:p>
        </p:txBody>
      </p:sp>
      <p:sp>
        <p:nvSpPr>
          <p:cNvPr id="10" name="Freeform 10"/>
          <p:cNvSpPr/>
          <p:nvPr/>
        </p:nvSpPr>
        <p:spPr>
          <a:xfrm>
            <a:off x="526913" y="5143371"/>
            <a:ext cx="3665403" cy="5450414"/>
          </a:xfrm>
          <a:custGeom>
            <a:avLst/>
            <a:gdLst/>
            <a:ahLst/>
            <a:cxnLst/>
            <a:rect l="l" t="t" r="r" b="b"/>
            <a:pathLst>
              <a:path w="3665403" h="5450414">
                <a:moveTo>
                  <a:pt x="0" y="0"/>
                </a:moveTo>
                <a:lnTo>
                  <a:pt x="3665404" y="0"/>
                </a:lnTo>
                <a:lnTo>
                  <a:pt x="3665404" y="5450414"/>
                </a:lnTo>
                <a:lnTo>
                  <a:pt x="0" y="5450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95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09807" y="-309859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49053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68668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965266" y="1028571"/>
            <a:ext cx="15294034" cy="8229600"/>
            <a:chOff x="0" y="0"/>
            <a:chExt cx="4970565" cy="26746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70565" cy="2674622"/>
            </a:xfrm>
            <a:custGeom>
              <a:avLst/>
              <a:gdLst/>
              <a:ahLst/>
              <a:cxnLst/>
              <a:rect l="l" t="t" r="r" b="b"/>
              <a:pathLst>
                <a:path w="4970565" h="2674622">
                  <a:moveTo>
                    <a:pt x="25310" y="0"/>
                  </a:moveTo>
                  <a:lnTo>
                    <a:pt x="4945255" y="0"/>
                  </a:lnTo>
                  <a:cubicBezTo>
                    <a:pt x="4951968" y="0"/>
                    <a:pt x="4958405" y="2667"/>
                    <a:pt x="4963152" y="7413"/>
                  </a:cubicBezTo>
                  <a:cubicBezTo>
                    <a:pt x="4967899" y="12160"/>
                    <a:pt x="4970565" y="18598"/>
                    <a:pt x="4970565" y="25310"/>
                  </a:cubicBezTo>
                  <a:lnTo>
                    <a:pt x="4970565" y="2649312"/>
                  </a:lnTo>
                  <a:cubicBezTo>
                    <a:pt x="4970565" y="2663291"/>
                    <a:pt x="4959233" y="2674622"/>
                    <a:pt x="4945255" y="2674622"/>
                  </a:cubicBezTo>
                  <a:lnTo>
                    <a:pt x="25310" y="2674622"/>
                  </a:lnTo>
                  <a:cubicBezTo>
                    <a:pt x="11332" y="2674622"/>
                    <a:pt x="0" y="2663291"/>
                    <a:pt x="0" y="2649312"/>
                  </a:cubicBezTo>
                  <a:lnTo>
                    <a:pt x="0" y="25310"/>
                  </a:lnTo>
                  <a:cubicBezTo>
                    <a:pt x="0" y="11332"/>
                    <a:pt x="11332" y="0"/>
                    <a:pt x="2531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970565" cy="27222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405782" y="3439177"/>
            <a:ext cx="11990080" cy="5231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8828" lvl="1" indent="-399414" algn="l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Customer churn can be effectively analyzed using data</a:t>
            </a:r>
          </a:p>
          <a:p>
            <a:pPr marL="798828" lvl="1" indent="-399414" algn="l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Behavioral factors play a dominant role in churn</a:t>
            </a:r>
          </a:p>
          <a:p>
            <a:pPr marL="798828" lvl="1" indent="-399414" algn="l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Predictive models enable proactive decision-making</a:t>
            </a:r>
          </a:p>
          <a:p>
            <a:pPr marL="798828" lvl="1" indent="-399414" algn="l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Businesses can reduce churn using targeted strategies</a:t>
            </a:r>
          </a:p>
          <a:p>
            <a:pPr algn="r">
              <a:lnSpc>
                <a:spcPts val="5039"/>
              </a:lnSpc>
            </a:pPr>
            <a:endParaRPr lang="en-US" sz="3699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729826" y="1668225"/>
            <a:ext cx="13666036" cy="1335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19"/>
              </a:lnSpc>
            </a:pPr>
            <a:r>
              <a:rPr lang="en-US" sz="77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CONCLUSION </a:t>
            </a:r>
          </a:p>
        </p:txBody>
      </p:sp>
      <p:sp>
        <p:nvSpPr>
          <p:cNvPr id="10" name="Freeform 10"/>
          <p:cNvSpPr/>
          <p:nvPr/>
        </p:nvSpPr>
        <p:spPr>
          <a:xfrm flipH="1">
            <a:off x="178571" y="5108181"/>
            <a:ext cx="4227211" cy="5178819"/>
          </a:xfrm>
          <a:custGeom>
            <a:avLst/>
            <a:gdLst/>
            <a:ahLst/>
            <a:cxnLst/>
            <a:rect l="l" t="t" r="r" b="b"/>
            <a:pathLst>
              <a:path w="4227211" h="5178819">
                <a:moveTo>
                  <a:pt x="4227211" y="0"/>
                </a:moveTo>
                <a:lnTo>
                  <a:pt x="0" y="0"/>
                </a:lnTo>
                <a:lnTo>
                  <a:pt x="0" y="5178819"/>
                </a:lnTo>
                <a:lnTo>
                  <a:pt x="4227211" y="5178819"/>
                </a:lnTo>
                <a:lnTo>
                  <a:pt x="422721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95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09807" y="-309859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6" y="0"/>
                </a:lnTo>
                <a:lnTo>
                  <a:pt x="7868386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49053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68668" y="-309601"/>
            <a:ext cx="7868385" cy="10906460"/>
          </a:xfrm>
          <a:custGeom>
            <a:avLst/>
            <a:gdLst/>
            <a:ahLst/>
            <a:cxnLst/>
            <a:rect l="l" t="t" r="r" b="b"/>
            <a:pathLst>
              <a:path w="7868385" h="10906460">
                <a:moveTo>
                  <a:pt x="0" y="0"/>
                </a:moveTo>
                <a:lnTo>
                  <a:pt x="7868385" y="0"/>
                </a:lnTo>
                <a:lnTo>
                  <a:pt x="7868385" y="10906460"/>
                </a:lnTo>
                <a:lnTo>
                  <a:pt x="0" y="1090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5125" r="-101160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1028700"/>
            <a:ext cx="12496414" cy="8229600"/>
            <a:chOff x="0" y="0"/>
            <a:chExt cx="4061338" cy="26746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61338" cy="2674622"/>
            </a:xfrm>
            <a:custGeom>
              <a:avLst/>
              <a:gdLst/>
              <a:ahLst/>
              <a:cxnLst/>
              <a:rect l="l" t="t" r="r" b="b"/>
              <a:pathLst>
                <a:path w="4061338" h="2674622">
                  <a:moveTo>
                    <a:pt x="30977" y="0"/>
                  </a:moveTo>
                  <a:lnTo>
                    <a:pt x="4030362" y="0"/>
                  </a:lnTo>
                  <a:cubicBezTo>
                    <a:pt x="4047470" y="0"/>
                    <a:pt x="4061338" y="13869"/>
                    <a:pt x="4061338" y="30977"/>
                  </a:cubicBezTo>
                  <a:lnTo>
                    <a:pt x="4061338" y="2643646"/>
                  </a:lnTo>
                  <a:cubicBezTo>
                    <a:pt x="4061338" y="2651861"/>
                    <a:pt x="4058074" y="2659740"/>
                    <a:pt x="4052265" y="2665550"/>
                  </a:cubicBezTo>
                  <a:cubicBezTo>
                    <a:pt x="4046456" y="2671359"/>
                    <a:pt x="4038577" y="2674622"/>
                    <a:pt x="4030362" y="2674622"/>
                  </a:cubicBezTo>
                  <a:lnTo>
                    <a:pt x="30977" y="2674622"/>
                  </a:lnTo>
                  <a:cubicBezTo>
                    <a:pt x="22761" y="2674622"/>
                    <a:pt x="14882" y="2671359"/>
                    <a:pt x="9073" y="2665550"/>
                  </a:cubicBezTo>
                  <a:cubicBezTo>
                    <a:pt x="3264" y="2659740"/>
                    <a:pt x="0" y="2651861"/>
                    <a:pt x="0" y="2643646"/>
                  </a:cubicBezTo>
                  <a:lnTo>
                    <a:pt x="0" y="30977"/>
                  </a:lnTo>
                  <a:cubicBezTo>
                    <a:pt x="0" y="22761"/>
                    <a:pt x="3264" y="14882"/>
                    <a:pt x="9073" y="9073"/>
                  </a:cubicBezTo>
                  <a:cubicBezTo>
                    <a:pt x="14882" y="3264"/>
                    <a:pt x="22761" y="0"/>
                    <a:pt x="3097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061338" cy="27222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81994" y="4032511"/>
            <a:ext cx="10989825" cy="2040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58"/>
              </a:lnSpc>
            </a:pPr>
            <a:r>
              <a:rPr lang="en-US" sz="11898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THANK U</a:t>
            </a:r>
          </a:p>
        </p:txBody>
      </p:sp>
      <p:sp>
        <p:nvSpPr>
          <p:cNvPr id="9" name="Freeform 9"/>
          <p:cNvSpPr/>
          <p:nvPr/>
        </p:nvSpPr>
        <p:spPr>
          <a:xfrm>
            <a:off x="12314837" y="4261111"/>
            <a:ext cx="5973163" cy="6025889"/>
          </a:xfrm>
          <a:custGeom>
            <a:avLst/>
            <a:gdLst/>
            <a:ahLst/>
            <a:cxnLst/>
            <a:rect l="l" t="t" r="r" b="b"/>
            <a:pathLst>
              <a:path w="5973163" h="6025889">
                <a:moveTo>
                  <a:pt x="0" y="0"/>
                </a:moveTo>
                <a:lnTo>
                  <a:pt x="5973163" y="0"/>
                </a:lnTo>
                <a:lnTo>
                  <a:pt x="5973163" y="6025889"/>
                </a:lnTo>
                <a:lnTo>
                  <a:pt x="0" y="6025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413</Words>
  <Application>Microsoft Office PowerPoint</Application>
  <PresentationFormat>Custom</PresentationFormat>
  <Paragraphs>89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Raleway</vt:lpstr>
      <vt:lpstr>Fredoka</vt:lpstr>
      <vt:lpstr>Arial</vt:lpstr>
      <vt:lpstr>Raleway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Collection &amp; Analysis Educational Presentation</dc:title>
  <dc:creator>Eman ElBadry</dc:creator>
  <cp:lastModifiedBy>Windows User</cp:lastModifiedBy>
  <cp:revision>2</cp:revision>
  <dcterms:created xsi:type="dcterms:W3CDTF">2006-08-16T00:00:00Z</dcterms:created>
  <dcterms:modified xsi:type="dcterms:W3CDTF">2026-04-25T18:08:04Z</dcterms:modified>
  <dc:identifier>DAHH4OMNhmY</dc:identifier>
</cp:coreProperties>
</file>